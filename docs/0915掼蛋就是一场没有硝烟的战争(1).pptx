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90" r:id="rId3"/>
    <p:sldId id="256" r:id="rId4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41" r:id="rId19"/>
    <p:sldId id="304" r:id="rId20"/>
    <p:sldId id="305" r:id="rId21"/>
    <p:sldId id="342" r:id="rId22"/>
    <p:sldId id="306" r:id="rId23"/>
    <p:sldId id="307" r:id="rId24"/>
    <p:sldId id="308" r:id="rId25"/>
    <p:sldId id="343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44" r:id="rId35"/>
    <p:sldId id="345" r:id="rId36"/>
    <p:sldId id="318" r:id="rId37"/>
    <p:sldId id="319" r:id="rId38"/>
    <p:sldId id="346" r:id="rId39"/>
    <p:sldId id="320" r:id="rId40"/>
    <p:sldId id="321" r:id="rId41"/>
    <p:sldId id="347" r:id="rId42"/>
    <p:sldId id="322" r:id="rId43"/>
    <p:sldId id="348" r:id="rId44"/>
    <p:sldId id="323" r:id="rId45"/>
    <p:sldId id="349" r:id="rId46"/>
    <p:sldId id="324" r:id="rId47"/>
    <p:sldId id="350" r:id="rId48"/>
    <p:sldId id="325" r:id="rId49"/>
    <p:sldId id="326" r:id="rId50"/>
    <p:sldId id="327" r:id="rId51"/>
    <p:sldId id="328" r:id="rId52"/>
    <p:sldId id="329" r:id="rId53"/>
    <p:sldId id="351" r:id="rId54"/>
    <p:sldId id="330" r:id="rId55"/>
    <p:sldId id="352" r:id="rId56"/>
    <p:sldId id="331" r:id="rId57"/>
    <p:sldId id="353" r:id="rId58"/>
    <p:sldId id="332" r:id="rId59"/>
    <p:sldId id="333" r:id="rId60"/>
    <p:sldId id="354" r:id="rId61"/>
    <p:sldId id="334" r:id="rId62"/>
    <p:sldId id="335" r:id="rId63"/>
    <p:sldId id="336" r:id="rId64"/>
    <p:sldId id="337" r:id="rId65"/>
    <p:sldId id="355" r:id="rId66"/>
    <p:sldId id="338" r:id="rId67"/>
    <p:sldId id="339" r:id="rId68"/>
    <p:sldId id="257" r:id="rId69"/>
  </p:sldIdLst>
  <p:sldSz cx="12192000" cy="6858000"/>
  <p:notesSz cx="6858000" cy="9144000"/>
  <p:custDataLst>
    <p:tags r:id="rId7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8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6FE"/>
    <a:srgbClr val="2E5BEA"/>
    <a:srgbClr val="012791"/>
    <a:srgbClr val="014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44" d="100"/>
          <a:sy n="144" d="100"/>
        </p:scale>
        <p:origin x="126" y="258"/>
      </p:cViewPr>
      <p:guideLst>
        <p:guide orient="horz" pos="2298"/>
        <p:guide pos="37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tags" Target="tags/tag19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0440E-6E44-4F7C-A89A-ACA9AD2032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9A9F7-509E-44FE-990E-4BDABC366CA5}" type="slidenum">
              <a:rPr lang="zh-CN" altLang="en-US" smtClean="0"/>
            </a:fld>
            <a:endParaRPr lang="zh-CN" altLang="en-US"/>
          </a:p>
        </p:txBody>
      </p:sp>
      <p:pic>
        <p:nvPicPr>
          <p:cNvPr id="469" name="图片 468"/>
          <p:cNvPicPr>
            <a:picLocks noChangeAspect="1"/>
          </p:cNvPicPr>
          <p:nvPr userDrawn="1"/>
        </p:nvPicPr>
        <p:blipFill rotWithShape="1">
          <a:blip r:embed="rId1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0" t="4827"/>
          <a:stretch>
            <a:fillRect/>
          </a:stretch>
        </p:blipFill>
        <p:spPr>
          <a:xfrm>
            <a:off x="4867275" y="438150"/>
            <a:ext cx="7324725" cy="6419850"/>
          </a:xfrm>
          <a:prstGeom prst="rect">
            <a:avLst/>
          </a:prstGeom>
        </p:spPr>
      </p:pic>
      <p:pic>
        <p:nvPicPr>
          <p:cNvPr id="470" name="图片 469"/>
          <p:cNvPicPr>
            <a:picLocks noChangeAspect="1"/>
          </p:cNvPicPr>
          <p:nvPr userDrawn="1"/>
        </p:nvPicPr>
        <p:blipFill rotWithShape="1">
          <a:blip r:embed="rId1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0" t="4827" r="11691" b="18812"/>
          <a:stretch>
            <a:fillRect/>
          </a:stretch>
        </p:blipFill>
        <p:spPr>
          <a:xfrm flipH="1" flipV="1">
            <a:off x="-1" y="-1"/>
            <a:ext cx="3581428" cy="3114675"/>
          </a:xfrm>
          <a:prstGeom prst="rect">
            <a:avLst/>
          </a:prstGeom>
        </p:spPr>
      </p:pic>
      <p:grpSp>
        <p:nvGrpSpPr>
          <p:cNvPr id="493" name="组合 492"/>
          <p:cNvGrpSpPr/>
          <p:nvPr userDrawn="1"/>
        </p:nvGrpSpPr>
        <p:grpSpPr>
          <a:xfrm>
            <a:off x="10559867" y="424718"/>
            <a:ext cx="883015" cy="178167"/>
            <a:chOff x="9893117" y="424718"/>
            <a:chExt cx="883015" cy="178167"/>
          </a:xfrm>
        </p:grpSpPr>
        <p:sp>
          <p:nvSpPr>
            <p:cNvPr id="490" name="椭圆 489"/>
            <p:cNvSpPr/>
            <p:nvPr/>
          </p:nvSpPr>
          <p:spPr>
            <a:xfrm>
              <a:off x="9893117" y="424720"/>
              <a:ext cx="178165" cy="1781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1" name="椭圆 490"/>
            <p:cNvSpPr/>
            <p:nvPr/>
          </p:nvSpPr>
          <p:spPr>
            <a:xfrm>
              <a:off x="10245542" y="424719"/>
              <a:ext cx="178165" cy="1781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2" name="椭圆 491"/>
            <p:cNvSpPr/>
            <p:nvPr/>
          </p:nvSpPr>
          <p:spPr>
            <a:xfrm>
              <a:off x="10597967" y="424718"/>
              <a:ext cx="178165" cy="1781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22655" y="2530475"/>
            <a:ext cx="8839200" cy="167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作战指挥学教授   王智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6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97475" y="4204335"/>
            <a:ext cx="7089775" cy="629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2023.09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组合 477"/>
          <p:cNvGrpSpPr/>
          <p:nvPr/>
        </p:nvGrpSpPr>
        <p:grpSpPr>
          <a:xfrm>
            <a:off x="922359" y="1919455"/>
            <a:ext cx="8839200" cy="2920365"/>
            <a:chOff x="1399079" y="3429000"/>
            <a:chExt cx="8839200" cy="2920365"/>
          </a:xfrm>
        </p:grpSpPr>
        <p:sp>
          <p:nvSpPr>
            <p:cNvPr id="472" name="文本框 471"/>
            <p:cNvSpPr txBox="1"/>
            <p:nvPr/>
          </p:nvSpPr>
          <p:spPr>
            <a:xfrm>
              <a:off x="1399079" y="3429000"/>
              <a:ext cx="30988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6000" i="1" dirty="0">
                <a:solidFill>
                  <a:schemeClr val="bg1"/>
                </a:solidFill>
                <a:latin typeface="Noto Sans CJK Bold" panose="020B0800000000000000" pitchFamily="34" charset="-122"/>
                <a:ea typeface="Noto Sans CJK Bold" panose="020B0800000000000000" pitchFamily="34" charset="-122"/>
              </a:endParaRPr>
            </a:p>
          </p:txBody>
        </p:sp>
        <p:sp>
          <p:nvSpPr>
            <p:cNvPr id="473" name="文本框 472"/>
            <p:cNvSpPr txBox="1"/>
            <p:nvPr/>
          </p:nvSpPr>
          <p:spPr>
            <a:xfrm>
              <a:off x="1399079" y="3752850"/>
              <a:ext cx="8839200" cy="25965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掼蛋就是一场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/>
              <a:r>
                <a:rPr lang="zh-CN" altLang="en-US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没有硝烟的战争！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850880" y="6376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med" advClick="0" advTm="2000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78" name="组合 477"/>
          <p:cNvGrpSpPr/>
          <p:nvPr/>
        </p:nvGrpSpPr>
        <p:grpSpPr>
          <a:xfrm>
            <a:off x="922359" y="1919455"/>
            <a:ext cx="8900160" cy="3110865"/>
            <a:chOff x="1399079" y="3429000"/>
            <a:chExt cx="8900160" cy="3110865"/>
          </a:xfrm>
        </p:grpSpPr>
        <p:sp>
          <p:nvSpPr>
            <p:cNvPr id="472" name="文本框 471"/>
            <p:cNvSpPr txBox="1"/>
            <p:nvPr/>
          </p:nvSpPr>
          <p:spPr>
            <a:xfrm>
              <a:off x="1399079" y="3429000"/>
              <a:ext cx="30988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endParaRPr lang="zh-CN" altLang="en-US" sz="6000" i="1" dirty="0">
                <a:solidFill>
                  <a:schemeClr val="bg1"/>
                </a:solidFill>
                <a:latin typeface="Noto Sans CJK Bold" panose="020B0800000000000000" pitchFamily="34" charset="-122"/>
                <a:ea typeface="Noto Sans CJK Bold" panose="020B0800000000000000" pitchFamily="34" charset="-122"/>
              </a:endParaRPr>
            </a:p>
          </p:txBody>
        </p:sp>
        <p:sp>
          <p:nvSpPr>
            <p:cNvPr id="473" name="文本框 472"/>
            <p:cNvSpPr txBox="1"/>
            <p:nvPr/>
          </p:nvSpPr>
          <p:spPr>
            <a:xfrm>
              <a:off x="1460039" y="3943350"/>
              <a:ext cx="8839200" cy="25965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掼蛋中的战略战术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78" name="组合 477"/>
          <p:cNvGrpSpPr/>
          <p:nvPr/>
        </p:nvGrpSpPr>
        <p:grpSpPr>
          <a:xfrm>
            <a:off x="922359" y="1919455"/>
            <a:ext cx="8839200" cy="4020185"/>
            <a:chOff x="1399079" y="3429000"/>
            <a:chExt cx="8839200" cy="4020185"/>
          </a:xfrm>
        </p:grpSpPr>
        <p:sp>
          <p:nvSpPr>
            <p:cNvPr id="472" name="文本框 471"/>
            <p:cNvSpPr txBox="1"/>
            <p:nvPr/>
          </p:nvSpPr>
          <p:spPr>
            <a:xfrm>
              <a:off x="1399079" y="3429000"/>
              <a:ext cx="30988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endParaRPr lang="zh-CN" altLang="en-US" sz="6000" i="1" dirty="0">
                <a:solidFill>
                  <a:schemeClr val="bg1"/>
                </a:solidFill>
                <a:latin typeface="Noto Sans CJK Bold" panose="020B0800000000000000" pitchFamily="34" charset="-122"/>
                <a:ea typeface="Noto Sans CJK Bold" panose="020B0800000000000000" pitchFamily="34" charset="-122"/>
              </a:endParaRPr>
            </a:p>
          </p:txBody>
        </p:sp>
        <p:sp>
          <p:nvSpPr>
            <p:cNvPr id="473" name="文本框 472"/>
            <p:cNvSpPr txBox="1"/>
            <p:nvPr/>
          </p:nvSpPr>
          <p:spPr>
            <a:xfrm>
              <a:off x="1399079" y="3714115"/>
              <a:ext cx="8839200" cy="373507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1028700" indent="-1028700" algn="l">
                <a:lnSpc>
                  <a:spcPct val="150000"/>
                </a:lnSpc>
                <a:buFont typeface="+mj-ea"/>
                <a:buAutoNum type="ea1JpnChsDbPeriod"/>
              </a:pPr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基本概念</a:t>
              </a:r>
              <a:endPara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742950" indent="-742950" algn="l">
                <a:lnSpc>
                  <a:spcPct val="150000"/>
                </a:lnSpc>
                <a:buAutoNum type="ea1JpnChsDbPeriod"/>
              </a:pPr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掼蛋中的战略定位</a:t>
              </a:r>
              <a:endPara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742950" indent="-742950" algn="l">
                <a:lnSpc>
                  <a:spcPct val="150000"/>
                </a:lnSpc>
                <a:buAutoNum type="ea1JpnChsDbPeriod"/>
              </a:pPr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掼</a:t>
              </a:r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蛋中的战术技术</a:t>
              </a:r>
              <a:endPara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3600" y="539115"/>
            <a:ext cx="739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2655" y="1124585"/>
            <a:ext cx="8029575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掼蛋中的战略战术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5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一、基本概念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四大天王（四个鬼炸，天炸）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十张同数值炸（两个红配）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九张同数值炸（一个红配）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八张同数值炸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七张同数值炸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六张同数值炸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五张同数值炸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四张同数值炸（四个头炸）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同花顺（清顺）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同花色的五张连续单牌。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最大的10JQKA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最小的A2345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炸弹（火、枪</a:t>
            </a:r>
            <a:r>
              <a:rPr lang="zh-CN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049020" y="1932940"/>
            <a:ext cx="975360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单牌（单张，单支）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对子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三不带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三带二（夯）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顺子（杂顺）五张连续单牌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三连对（滚滚）三个连续对子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钢板（三顺、双飞）两个连续的三张牌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短套牌型：单牌、对子、三不带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长套牌型：五张或六张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排序也是在掼蛋中出现的概率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由高到低。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牌型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一、基本概念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049020" y="1932940"/>
            <a:ext cx="975360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ea typeface="微软雅黑" panose="020B0503020204020204" charset="-122"/>
              </a:rPr>
              <a:t>大小王（大小司令、正副司令）</a:t>
            </a:r>
            <a:endParaRPr sz="2400" dirty="0">
              <a:solidFill>
                <a:schemeClr val="bg1"/>
              </a:solidFill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ea typeface="微软雅黑" panose="020B0503020204020204" charset="-122"/>
              </a:rPr>
              <a:t>主牌（级牌、参谋）</a:t>
            </a:r>
            <a:endParaRPr sz="2400" dirty="0">
              <a:solidFill>
                <a:schemeClr val="bg1"/>
              </a:solidFill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ea typeface="微软雅黑" panose="020B0503020204020204" charset="-122"/>
              </a:rPr>
              <a:t>红心配配（逢人配、百搭、参谋长）</a:t>
            </a:r>
            <a:endParaRPr sz="240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王和级牌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一、基本概念</a:t>
            </a:r>
            <a:endParaRPr lang="zh-CN" altLang="en-US" sz="5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手数（轮次）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一、基本概念</a:t>
            </a:r>
            <a:endParaRPr lang="zh-CN" altLang="en-US" sz="5400"/>
          </a:p>
        </p:txBody>
      </p:sp>
      <p:pic>
        <p:nvPicPr>
          <p:cNvPr id="13" name="图片 12" descr="292285648326891861"/>
          <p:cNvPicPr>
            <a:picLocks noChangeAspect="1"/>
          </p:cNvPicPr>
          <p:nvPr/>
        </p:nvPicPr>
        <p:blipFill>
          <a:blip r:embed="rId1"/>
          <a:srcRect l="7513" t="4704" r="2389" b="12296"/>
          <a:stretch>
            <a:fillRect/>
          </a:stretch>
        </p:blipFill>
        <p:spPr>
          <a:xfrm rot="10800000">
            <a:off x="3606800" y="1919605"/>
            <a:ext cx="6762115" cy="46716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34745" y="2240915"/>
            <a:ext cx="253555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自然手数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 10</a:t>
            </a: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手</a:t>
            </a:r>
            <a:endParaRPr lang="zh-CN" altLang="en-US" sz="2400" dirty="0">
              <a:solidFill>
                <a:schemeClr val="bg1"/>
              </a:solidFill>
              <a:ea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最多只能组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 3</a:t>
            </a: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火</a:t>
            </a:r>
            <a:endParaRPr lang="zh-CN" altLang="en-US" sz="2400" dirty="0">
              <a:solidFill>
                <a:schemeClr val="bg1"/>
              </a:solidFill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 descr="415020294223485556"/>
          <p:cNvPicPr>
            <a:picLocks noChangeAspect="1"/>
          </p:cNvPicPr>
          <p:nvPr/>
        </p:nvPicPr>
        <p:blipFill>
          <a:blip r:embed="rId1"/>
          <a:srcRect l="7823" t="14374" r="4218" b="22387"/>
          <a:stretch>
            <a:fillRect/>
          </a:stretch>
        </p:blipFill>
        <p:spPr>
          <a:xfrm rot="10800000">
            <a:off x="3285490" y="1468120"/>
            <a:ext cx="8292465" cy="45561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2615" y="2032000"/>
            <a:ext cx="274383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这样组合也是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 3</a:t>
            </a: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火</a:t>
            </a:r>
            <a:endParaRPr lang="zh-CN" altLang="en-US" sz="2400" dirty="0">
              <a:solidFill>
                <a:schemeClr val="bg1"/>
              </a:solidFill>
              <a:ea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但只有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 8</a:t>
            </a:r>
            <a:r>
              <a:rPr lang="zh-CN" altLang="en-US" sz="2400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手</a:t>
            </a:r>
            <a:endParaRPr lang="zh-CN" altLang="en-US" sz="2400" dirty="0">
              <a:solidFill>
                <a:schemeClr val="bg1"/>
              </a:solidFill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1.掼蛋定位的定</a:t>
            </a:r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性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掼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蛋中最重要的一个问题就是战略定位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上游，二游，三游，下游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战略定位要考虑三个因素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是大牌的多少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二是炸弹的数量和质量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三是手数的多少和控制力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掼蛋定位的定量分析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“九九法则”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“一九”，手数≤九手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“二九”点力≥九点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点力的计算：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四个头的炸弹，算四点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五个头的炸弹（含以上）以及清顺，算五点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所有的登基牌加一点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所有的累赘牌减一点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掼蛋定位的定量分析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64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登基牌：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每种牌型（每路）中最大的一手牌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单张：大王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对子：本方有大王，一对小王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本方有大小王，一对级牌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三不带（三带二）：三张级牌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顺子：10JQKA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手中以外的10全出完时，56789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三连对：QQKKAA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钢板：KKKAAA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登基牌是会发生变化的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掼蛋定位的定量分析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64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累赘牌：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中位数以下的小单、小对、小三个头，小顺子等。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中位数：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级牌8以下（含8）中位数是9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级牌9以上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中位数是8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 descr="1534993443529644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885" y="3181350"/>
            <a:ext cx="4291965" cy="3218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3.掼蛋定位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的目标定位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做任何事把握住以下三点，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一定能够成功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是明确的目标</a:t>
            </a:r>
            <a:endParaRPr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是科学的方法</a:t>
            </a:r>
            <a:endParaRPr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是持之以恒的毅力</a:t>
            </a:r>
            <a:endParaRPr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战略定位的全局性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753600" cy="428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有人说掼蛋“上游是硬道理”，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当然上游很重要，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我们要赢的是一场比赛，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而不是每一副牌都必须拿上游。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所以说团队利益最大化更重要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,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如果本副牌实力不够，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就可明智的放弃上游，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049020" y="1035685"/>
            <a:ext cx="9753600" cy="428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争取拿二游、三游，尽量避免被双下，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双下以后很痛苦，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因为双下就要双贡，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双贡就会单张失控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蛋中有一句名言：“得单张者得天下”，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在单张失控的情况下，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如果你没有足够的炸弹，很难翻身。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1" name="文本框 10"/>
          <p:cNvSpPr txBox="1"/>
          <p:nvPr/>
        </p:nvSpPr>
        <p:spPr>
          <a:xfrm>
            <a:off x="1049020" y="1765935"/>
            <a:ext cx="9753600" cy="428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掼蛋定位中的四类牌型</a:t>
            </a:r>
            <a:r>
              <a:rPr lang="zh-CN"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lang="zh-CN"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一旦你确定好了你的定位，</a:t>
            </a:r>
            <a:endParaRPr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就开始组织战斗和进攻，</a:t>
            </a:r>
            <a:endParaRPr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定位大致可分为四种类型</a:t>
            </a:r>
            <a:r>
              <a:rPr lang="zh-CN"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掼蛋定位中的四类牌型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354695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第一类：超强型的牌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这类牌肯定是上游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无论是在战斗开始阶段动手，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还是在中盘的时候动手，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甚至到了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残局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阶段动手，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都能抢到上游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320165" y="900430"/>
            <a:ext cx="8354695" cy="522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拿到这种类型的牌，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你不光要把上游抢来，而且在抢上游的过程中，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还要帮助同伴消灭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有生力量，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如果你能够判断出来，两个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谁强，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你在抢上游的过程中，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专门打强的那个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放弱的那个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你判断不出谁强，你就可以打上家，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因为你不需要从上家套牌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跟牌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放下家，对你同伴有好处。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掼蛋定位中的四类牌型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110855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第二类：“千年老二”的牌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这类牌抢上游有点困难，但上游也是有希望的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这时你一定要学会韬光养晦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韬光养晦有两个好处：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第一个是等着敌人犯错误，送你一手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第二个是等到你同伴发现你需要什么时候帮你一下，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这个时候一定要低调，上游是混出来的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掼蛋定位中的四类牌型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25627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第三类：牌力中等型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这类牌牌力也不是太强，也不算太弱，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如果两个人都是类牌配合好了，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上游也是有希望的，但是难度很大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掼蛋定位中的四类牌型</a:t>
            </a:r>
            <a:r>
              <a:rPr lang="en-US" altLang="zh-CN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256270" cy="352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第四类：牌力很弱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这类牌定位肯定是下游，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既然已经定位是下游，就要学会无为而治，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尤其是在开局阶段，不做任何作为，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上家无论出什么都可以不要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265555" y="1202690"/>
            <a:ext cx="825627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到了中盘和后期，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通过观察和判断，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如果你同伴喜欢的这路牌，坚决放开，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喜欢的这路牌，想办法扛住。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通过观察，看看你同伴最后需要什么，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关键的时候出手帮助同伴一下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掼蛋中的战略定位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1" name="文本框 10"/>
          <p:cNvSpPr txBox="1"/>
          <p:nvPr/>
        </p:nvSpPr>
        <p:spPr>
          <a:xfrm>
            <a:off x="1049020" y="1504950"/>
            <a:ext cx="8754745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战略定位需要注意三点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是对形势的判断，包括两个方面</a:t>
            </a: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一是自身的牌力，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二是外部形势的分析，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要把两者有效的结合起来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是战略目标要合理，要实事求是</a:t>
            </a: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是一旦制定了战略定位，就必须坚定不移地执行</a:t>
            </a: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1" name="文本框 10"/>
          <p:cNvSpPr txBox="1"/>
          <p:nvPr/>
        </p:nvSpPr>
        <p:spPr>
          <a:xfrm>
            <a:off x="1242060" y="1316355"/>
            <a:ext cx="9035415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对搭档的三条基本要求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掼蛋中的信息和牌语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掼蛋中的首攻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炸弹的使用时机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掼蛋中</a:t>
            </a: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无为而治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掼蛋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中</a:t>
            </a: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组牌原则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掼蛋记牌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对新手搭档的三条基本要求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24738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1.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沉底负责制</a:t>
            </a: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一级压一级，不轻易越级要牌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杀鸡不用宰牛刀，当好守门员。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大王可以不要级牌，大王一定要打小王，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除非你是高手，能说出大王不要小王的理由。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对新手搭档的三条基本要求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24738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第二家不是登基牌，绝不允许动炸。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当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你处于第二家的位置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 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你上家打的牌，你要的不舒服就放过，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记住：你不是一个人在战斗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你还有同伴呢。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要充分信任同伴，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不要责任心过强，当领导的、做老总的容易出现责任心过强现象，好管闲事。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276985" y="852170"/>
            <a:ext cx="8247380" cy="5212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有时，第二家动炸会带来三种恶果：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一是挡住了同伴的要过的牌；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二是同伴接住了，还可能逼敌人炸；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三是炸完后，出的牌还很可能帮助了敌人。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比如你出12345，你下家不要，我也不要，你上家出910JQK，这时你就成为了第二家，要不起就放过。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牢记我这句话；“我不要，不等于我要不起”。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我上家发牌，我不要，是想让你过牌。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你发的牌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我更不会要。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对新手搭档的三条基本要求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824738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抢不到上游，不要轻易出长套。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“长套”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三带二，顺子，三连对，钢板。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一但出长套就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表示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你想抢上游，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我作为同伴会全力以赴配合，你千万不要误导我哦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对新手搭档的三条基本要求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1932940"/>
            <a:ext cx="9157335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总结陈词如下：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. </a:t>
            </a:r>
            <a:r>
              <a:rPr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沉底要负责</a:t>
            </a:r>
            <a:endParaRPr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</a:t>
            </a:r>
            <a:r>
              <a:rPr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. </a:t>
            </a:r>
            <a:r>
              <a:rPr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处在第二家位置，你上家不是登基牌，不轻易起炸。</a:t>
            </a:r>
            <a:endParaRPr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</a:t>
            </a:r>
            <a:r>
              <a:rPr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. </a:t>
            </a:r>
            <a:r>
              <a:rPr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抢不到上游，不要轻易出长套。</a:t>
            </a:r>
            <a:endParaRPr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掼蛋中的信息和牌语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59180" y="1919605"/>
            <a:ext cx="8247380" cy="454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信息是战争成败的主导因素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在掼蛋过程中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在刚开始阶段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我们获得的信息应该是比较少的，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要打赢一场战争，必须要做到知己知彼，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先从打2开始说起，打2我们所知道的信息就三个，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一是自己手中的27张牌，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二是翻开来的那张牌，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三是首攻者出的第一手牌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268095" y="688975"/>
            <a:ext cx="824738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贡还牌时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一是自己手中的27张牌，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二是贡牌的信息，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三是还牌的信息，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四是首攻者出的第一手牌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68095" y="805180"/>
            <a:ext cx="8247380" cy="5130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一定要关注这些信息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。</a:t>
            </a:r>
            <a:endParaRPr 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我下家得到一张还贡的红桃6，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只要不出来，永远在他手上。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我同伴吃贡的黑桃8，在压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时，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用的是草花8，说明他至少还有一张黑桃八在手上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,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高手会把牌的信息表达的尽量明了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59180" y="543560"/>
            <a:ext cx="8526780" cy="5770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牌语：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牌是有语言的，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每个人出的每一手牌都在表达他的想法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贡还牌中有信息，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首攻中有信息，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接牌、让牌、拆牌、封堵，开炸，转换进攻方向，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出牌的顺序都是有信息的，都是有牌语的，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你要尽量表达准确，你同伴也要尽量读懂，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当然也要尽量读懂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暴露的信息，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只有做到知己知彼，才能百战不殆。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掼蛋中的首攻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04291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首攻（领出牌）牌手第一次获得出牌权时出的第一手牌。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首攻要表达出三层意思：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第一是，你想干什么？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是抢上游呢？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还是转换牌权到你同伴手中？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还是破坏对手的牌型结构？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还是你发出去的牌没有收回，等着后发制人？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42365" y="751840"/>
            <a:ext cx="804291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第二就是，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你牌力的强弱，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你是示强呢？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还是示弱？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第三就是，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你选择的进攻方向，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也就是你喜欢的牌型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59180" y="739775"/>
            <a:ext cx="804291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牌力强：按照上游的思路进行出牌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牌力中等：用短套试探，看同伴能不能担任主攻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牌力弱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还是要用短套试探，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之后要紧紧围绕着同伴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学会不要，无为而治。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牌力中等和牌力弱都不要轻易出长套。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掼蛋中的首攻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首攻单张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首攻单张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目前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掼蛋界流行的攻法，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有的高手千年不变，首攻单张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首攻单张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也是掼蛋最常见的一种首攻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方式。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单控时：肯定攻单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单不控，2～3轮过后，能控也可攻单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单张严重失控，没有其他更好的方向选择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也可攻单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84275" y="760730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攻单时，出牌顺序是很有讲究的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如：手中四张单A、J、9、3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强牌：攻3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中等牌力：攻9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弱牌：J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不是强牌，原则上攻中位数（含）以上的单。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掼蛋中的首攻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92770" cy="2849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首攻对子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1.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单张失控：首选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没有的好的方向：首攻也可选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“情况不明，对子先行”有一定的合理性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59180" y="729615"/>
            <a:ext cx="8192770" cy="4947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攻对子也有顺序问题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新手出牌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无论哪个方向都喜欢从小出到大。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高手出牌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一定会思考用什么样的顺序，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通过不同的顺序，表达牌力的强弱。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顺着走，一般是比较强，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逆着走，一般是比较弱。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掼蛋中的首攻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3943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首攻三不带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“三不带，独怪怪”，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三不带这种牌型，通常没有人喜欢，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首攻三不带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有两种情况，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一种，就是三不带的牌型，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还有一种情况，是三个头小，对子大，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转换轮次，这样不会吃亏。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比如：你手中有333KK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对手手中有AAA44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91260" y="1450340"/>
            <a:ext cx="813943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首攻长套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除了战略劣势的情况下，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首攻长套都是想做上游。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掼蛋中的首攻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3943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战略劣势的情况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主要指的是单张失控，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如我方双进贡或对手抗贡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这个时候的战略定位就是我和同伴共同的目标，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不再是抢上游，而是尽量避免被双下，度过难关。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这时首攻最小的单，可以（光脚不怕穿鞋的）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首攻自己能回收的长套，可以（单双都失控），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59180" y="1355725"/>
            <a:ext cx="813943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这时候的要求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比对手打A都要低，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对手打A必须把对手打成1、4名，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而这时，可以让对手成为1、3名，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我们抢到一个二游即可。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炸弹的使用时机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3943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炸弹可以从两个方面考量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是炸弹的数量</a:t>
            </a: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多少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二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是炸弹的质量</a:t>
            </a: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大小。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小炸弹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重磅炸弹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核武器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小炸弹炸点要靠前，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大炸弹炸点要靠后。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炸弹使用的时间节点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在什么时间节点上使用炸弹？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开局阶段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中盘阶段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残局阶段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炸弹的使用时机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05918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炸弹炸谁？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有两个对手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是炸上家？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还是炸下家？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炸弹的使用时机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262380" y="958850"/>
            <a:ext cx="8022590" cy="448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牌力强：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你可以左右开弓。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牌力次强：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想抢上游，跟着上家套牌，炸下家。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牌力中等或牌力弱：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掩护同伴，放下家，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下家出牌，对你同伴有利，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炸上家登基牌（逼炸牌）阻击上家抢上游。 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782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三种情况可以使用炸弹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一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是自己能抢上游，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炸了以后出自己的牌，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按照自己的思路进行进攻，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在这个过程中，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对手犯错误可能帮到你，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同伴读懂了你的牌，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关键的时候可以帮你一把。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炸弹的使用时机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23950" y="1188720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二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是你自己抢上游有困难，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但是你知道你同伴要什么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第一种情况：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同伴在首攻或开炸后明确表达过喜欢什么牌型。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第二种情况：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同伴没有机会表达，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但是你对战场态势分析判断出同伴喜欢什么牌型。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1894840" y="1277620"/>
            <a:ext cx="8108315" cy="3217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矛盾律：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单／双，三带二／顺子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同一律：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双／顺子，单／三带二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可以开炸，送上同伴喜欢的牌型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1049020" y="690880"/>
            <a:ext cx="8525510" cy="3217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三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是自己也抢不到上游，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同伴喜欢什么牌型，你也不知道，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有时也可以开炸。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炸的时候，冲锋陷阵，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杀出一条血路，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为同伴做出奉献。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除了这三种情况，都不允许起炸。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无为而治，就是顺其自然，道家的治理的理念。</a:t>
            </a:r>
            <a:endParaRPr 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当你的实力很强大时，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开局阶段可以无为而治，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便于你看清对手的实力和同伴的实力，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适时出手，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抢到上游的同时消灭对手的有生力量，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帮助同伴取得更好的成绩。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5.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掼蛋中的无为而治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23950" y="145097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当你不强不弱，开始也可以无为，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注意观察，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对手喜欢什么牌型，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同伴喜欢什么牌型，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适时阻击对手喜欢的牌型，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同伴喜欢的牌型，大门敞开。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23950" y="145097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当你是弱牌，就更要无为而治。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因为不管对手还是同伴出的牌，你的跟牌都是无效牌，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27张一张不出和27张跑得只剩一张做下游，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性质是一样的。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掼蛋，也叫淮安跑得快，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本质上不是跑得快，而应该是跑完了。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无为而治远远好于乱作为。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977900" y="2044700"/>
            <a:ext cx="8010525" cy="293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</a:t>
            </a:r>
            <a:r>
              <a:rPr 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组牌是掼蛋最基础的技术，</a:t>
            </a:r>
            <a:endParaRPr lang="zh-CN" sz="3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由于有红桃配配，</a:t>
            </a:r>
            <a:endParaRPr lang="zh-CN" sz="3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常常让牌手顾此失彼，难以取舍。</a:t>
            </a: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6.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组牌的原则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23950" y="657225"/>
            <a:ext cx="8010525" cy="554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●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组排的原则：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是必须结合定位，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定位上游可以拆炸弹，减少手数。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上游不了，保留炸弹，帮助同伴。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是红桃配配配炸时，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炸弹做的越小越好，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副牌做的越大越好。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AAA，222，红心5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三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是组牌要学会动态组合，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</a:t>
            </a:r>
            <a:r>
              <a:rPr 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变是永远不变的真理。</a:t>
            </a:r>
            <a:endParaRPr 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记牌能力是体现掼蛋水平的一个重要标志，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要成为惯蛋高手，就要学会记牌，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高手，可以像桥牌象棋高手那样做到复盘。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有一种说法：记牌的不一定是高手，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         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不记牌的肯定不是高手。</a:t>
            </a:r>
            <a:endParaRPr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7.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掼蛋记牌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①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记住大牌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2个大司令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2个小司令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6个参谋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2个参谋长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6个参谋和2个参谋长一定要分开记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这12张大牌要记精准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7.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掼蛋记牌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②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“五十定律”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凡是顺子必含5或者10。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当你有顺子的时候，请你关注一下我5或者10。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比如，你4个10 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同伴出过一对10，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上家出过一对10，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这时你手中56789顺子，就是登基牌。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7.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掼蛋记牌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③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“孤顺定律”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当你发现一张单牌，在某人手中，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他只有两种方式处理，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要么就是单张（孤张），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要么就是含这个单张的顺子。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7.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掼蛋记牌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④ 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学会关注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当有三个K时，请你关注一下A。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当有三个Q时，请你关注一下A和K。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关注自己手中27张牌的单、缺，外面很可能成炸。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自己手中的三个头，四个头，五个头的牌值，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是防守下家单张的最好点位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。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7.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掼蛋记牌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3755" y="33464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三、掼蛋中的战术技术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5400"/>
          </a:p>
        </p:txBody>
      </p:sp>
      <p:sp>
        <p:nvSpPr>
          <p:cNvPr id="5" name="文本框 4"/>
          <p:cNvSpPr txBox="1"/>
          <p:nvPr/>
        </p:nvSpPr>
        <p:spPr>
          <a:xfrm>
            <a:off x="1123950" y="1919605"/>
            <a:ext cx="8139430" cy="416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⑤  </a:t>
            </a:r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想办法记住同伴出的牌型，便于配合。</a:t>
            </a:r>
            <a:endParaRPr lang="en-US" altLang="zh-CN" sz="3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想办法记住下家出的牌型，便于防守。  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9180" y="1127125"/>
            <a:ext cx="990409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7. </a:t>
            </a:r>
            <a:r>
              <a:rPr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掼蛋记牌</a:t>
            </a:r>
            <a:endParaRPr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79880" y="1417320"/>
            <a:ext cx="733996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方法、原则，法则、定律，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要熟练掌握，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灵活运用，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千万不能犯教条主义。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文本框 472"/>
          <p:cNvSpPr txBox="1"/>
          <p:nvPr/>
        </p:nvSpPr>
        <p:spPr>
          <a:xfrm>
            <a:off x="1755140" y="3028315"/>
            <a:ext cx="3948430" cy="10718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谢谢！</a:t>
            </a:r>
            <a:endParaRPr lang="zh-CN" altLang="en-US" sz="66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475" name="直接连接符 474"/>
          <p:cNvCxnSpPr/>
          <p:nvPr/>
        </p:nvCxnSpPr>
        <p:spPr>
          <a:xfrm>
            <a:off x="1367413" y="3150235"/>
            <a:ext cx="0" cy="8280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0" advTm="2000">
    <p:pull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PP_MARK_KEY" val="6727a3d4-d6d1-4c59-a496-923f5a1322f3"/>
  <p:tag name="COMMONDATA" val="eyJoZGlkIjoiYWQ3OGNmZmU1NTk0YjgwYzc2NDYwMWUxOTMyYTFkM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6863</Words>
  <Application>WPS 演示</Application>
  <PresentationFormat>宽屏</PresentationFormat>
  <Paragraphs>652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8" baseType="lpstr">
      <vt:lpstr>Arial</vt:lpstr>
      <vt:lpstr>宋体</vt:lpstr>
      <vt:lpstr>Wingdings</vt:lpstr>
      <vt:lpstr>Noto Sans CJK Bold</vt:lpstr>
      <vt:lpstr>微软雅黑</vt:lpstr>
      <vt:lpstr>等线</vt:lpstr>
      <vt:lpstr>Arial Unicode MS</vt:lpstr>
      <vt:lpstr>Calibri</vt:lpstr>
      <vt:lpstr>Wingdings</vt:lpstr>
      <vt:lpstr>思源黑体 CN Bold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晓斌</dc:creator>
  <cp:lastModifiedBy>86138</cp:lastModifiedBy>
  <cp:revision>32</cp:revision>
  <dcterms:created xsi:type="dcterms:W3CDTF">2021-02-01T05:38:00Z</dcterms:created>
  <dcterms:modified xsi:type="dcterms:W3CDTF">2023-09-15T12:10:50Z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8CC5EB7FA4EB4EEA9F51BA58458405AD</vt:lpwstr>
  </property>
  <property fmtid="{D5CDD505-2E9C-101B-9397-08002B2CF9AE}" pid="3" name="KSOProductBuildVer">
    <vt:lpwstr>2052-11.1.0.14309</vt:lpwstr>
  </property>
</Properties>
</file>